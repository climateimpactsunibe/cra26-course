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71" r:id="rId5"/>
    <p:sldId id="274" r:id="rId6"/>
    <p:sldId id="258" r:id="rId7"/>
    <p:sldId id="275" r:id="rId8"/>
    <p:sldId id="273" r:id="rId9"/>
    <p:sldId id="260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83E9C-A788-4698-9F52-7A651594F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1C0C1-8C3F-48B6-86AC-0F00E6904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14E78-F142-45D2-A70F-3EB2CD7B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38342-0AE3-48D6-B388-AD5910B2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00D00-22A2-48A9-A77F-10A309D4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04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18B0-DD54-41B0-856C-9A562DE5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C326E-08A7-48B0-B79C-4B9A21928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ED6CF-8195-4B5E-9949-4E440F2F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93DA-C53D-431E-8709-90A9CD8D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A517-4FAF-4AC2-9202-B86E0726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539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6D72-5F7A-4375-AB89-35F105FD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DA234-A1DC-4560-9ECA-0DFB32E07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43E65-B08B-4BD9-9394-94E32ABF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16303-285B-478C-A813-41ACCA1F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73C4-78FE-4601-BEA4-7881ED94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60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6D86-6D4E-4DDC-AEDB-72F81574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B5128-A148-441B-B06C-549EA0E59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BA123-D71F-4437-891C-B24295012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8BA11-BCBB-4464-ABA9-977C6DE3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35746-F8C6-4541-9ED7-D2257662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5DDCE-C2C4-428E-AF96-FCECF329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68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E12A-490D-4F5C-AEC7-9F5EA2439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13931-0DE6-4FD0-A104-142978F0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A3A05-4D07-4551-A5C9-713A04E9C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864E5-AF70-4FB2-BB86-E636F3C5F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D2D81-039B-4CA1-A69A-FFC1EB4AD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950A3-3FB2-4925-B98F-E85E1590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EEB80-060D-4B1C-A75F-7FBF5D3F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99E8C-4169-4D1B-BDFB-F405C847F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77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758CF-D2EF-4A6B-9EC6-83718E570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6B960-3B36-42CB-89C3-58855326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70FB5-B41F-448A-AA65-E13BE7D74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67457-583F-48A2-ABFD-4FBA0DA9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94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30F236-EC71-4DEE-9BC7-A85B839C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FEDA1-1281-4ACF-A762-FB87B51C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7DD24-D80E-448D-BD2A-058A5037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91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3C39-5AB1-4E6E-B41A-6D36EEA57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6827D-A480-4C4B-BBAD-A3F9F49E7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9FF52-F267-4082-BA43-BFAF55771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70C17-E9A1-4BC1-B210-B660B862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A58BE-E0A7-4181-94B0-EE97167C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66BDA-A229-45A9-8CEC-48EDFEB0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74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60908-2DFB-421E-A6CC-BE44F35D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62260-F13D-4048-9B72-3A9C6D5FB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856E2-350F-45D3-9FEA-8F72503E1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919A7-E4D5-44AA-A134-3BB43EFB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7E9FC-CAFE-4258-8F4B-280F45E8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F95D7-B1C5-4768-A2EB-9225A751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0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019D-0848-4C06-BDF1-C2C62A7A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9F3A7-E48D-41E8-B9AA-5B9EDF065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0BBFF-8C7A-4AEC-ADF3-4A2947EC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93A54-809C-408B-8720-35F8465E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FDCD0-315F-492F-A47A-1E4347E0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795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74A9FA-EB8D-4DC3-9F60-35A9F7481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A1B46-8E0D-45F2-BD08-F23497DCD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B7CEA-F679-4A32-BBB8-23883FB4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18CBF-03B4-46A1-AD7E-20283A6C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AEF8-95E8-4AEF-AA9F-2562D22B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64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6659F7-55F2-4683-A869-A16B8E321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CC2C5-3844-4826-8045-7D8DA530E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0F9D1-0193-4B55-8DE4-F3FF129A8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FF4D2-51DC-4EAB-AB35-87912F604A5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BEA65-AB3F-425A-9029-6CA4D00A6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D0471-8F69-4900-B79D-16D0BE5FE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C61DB-08AD-4980-858F-B345486B8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91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03DE-1F1E-45D7-9F97-C54DF8A9B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br>
              <a:rPr lang="en-GB" dirty="0"/>
            </a:br>
            <a:r>
              <a:rPr lang="en-GB" dirty="0"/>
              <a:t>Python &amp; </a:t>
            </a:r>
            <a:r>
              <a:rPr lang="en-GB" dirty="0" err="1"/>
              <a:t>Jupyter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A21C3-63C4-4D00-9195-87AC69E23B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Climate Risk Assessment Spring Semester 2026</a:t>
            </a:r>
            <a:endParaRPr lang="en-GB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1BCC42D1-EE65-485F-9604-EA62BD589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181" y="4111388"/>
            <a:ext cx="1977637" cy="2292823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0773C0F1-986A-4FF6-8806-700B4BCEF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65" y="4203463"/>
            <a:ext cx="2292824" cy="22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1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9B63-3229-0649-DCBC-8E8F4293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BADC7-56CE-8F72-BC54-97F94DEAA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Python and why do we use it?</a:t>
            </a:r>
          </a:p>
          <a:p>
            <a:r>
              <a:rPr lang="en-GB" dirty="0"/>
              <a:t>How do we use Python and </a:t>
            </a:r>
            <a:r>
              <a:rPr lang="en-GB" dirty="0" err="1"/>
              <a:t>Jupyter</a:t>
            </a:r>
            <a:r>
              <a:rPr lang="en-GB" dirty="0"/>
              <a:t> in this course?</a:t>
            </a:r>
          </a:p>
          <a:p>
            <a:r>
              <a:rPr lang="en-GB" dirty="0"/>
              <a:t>Basic introduction to Python</a:t>
            </a:r>
          </a:p>
          <a:p>
            <a:pPr lvl="1"/>
            <a:r>
              <a:rPr lang="en-GB" dirty="0"/>
              <a:t>Today: </a:t>
            </a:r>
          </a:p>
          <a:p>
            <a:pPr lvl="2"/>
            <a:r>
              <a:rPr lang="en-GB" dirty="0"/>
              <a:t>Get everyone’s Python installation running</a:t>
            </a:r>
          </a:p>
          <a:p>
            <a:pPr lvl="2"/>
            <a:r>
              <a:rPr lang="en-GB" dirty="0"/>
              <a:t>Python Datatypes and Objects, interacting with Packages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Next Week: </a:t>
            </a:r>
            <a:r>
              <a:rPr lang="en-GB" dirty="0" err="1"/>
              <a:t>Numpy</a:t>
            </a:r>
            <a:r>
              <a:rPr lang="en-GB" dirty="0"/>
              <a:t> and </a:t>
            </a:r>
            <a:r>
              <a:rPr lang="en-GB" dirty="0" err="1"/>
              <a:t>Xarray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95297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114C-BFEE-4AD6-A01E-7A537A15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Python &amp; Why do we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7FF56-6DFD-4DC4-9A81-E39B295FE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High level general-purpose programming language</a:t>
            </a:r>
          </a:p>
          <a:p>
            <a:endParaRPr lang="en-GB" dirty="0"/>
          </a:p>
          <a:p>
            <a:r>
              <a:rPr lang="en-GB" dirty="0"/>
              <a:t>Emphasis on code readability (Indentation, English keywords)</a:t>
            </a:r>
          </a:p>
          <a:p>
            <a:r>
              <a:rPr lang="en-GB" dirty="0"/>
              <a:t>Multiparadigm &amp; dynamic typing</a:t>
            </a:r>
          </a:p>
          <a:p>
            <a:r>
              <a:rPr lang="en-GB" dirty="0"/>
              <a:t>Extensive Standard Library and lots of scientific open source libraries</a:t>
            </a:r>
          </a:p>
        </p:txBody>
      </p:sp>
    </p:spTree>
    <p:extLst>
      <p:ext uri="{BB962C8B-B14F-4D97-AF65-F5344CB8AC3E}">
        <p14:creationId xmlns:p14="http://schemas.microsoft.com/office/powerpoint/2010/main" val="2790450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7177-6421-BDBE-DF94-37E7C206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scientific “Ecosystem”</a:t>
            </a:r>
            <a:endParaRPr lang="en-CH" dirty="0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4973EE30-B2B8-F92C-7689-BAECD8F46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02" y="1404594"/>
            <a:ext cx="9229448" cy="4685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1D531F-76B1-1B3A-FC68-35C141BD5403}"/>
              </a:ext>
            </a:extLst>
          </p:cNvPr>
          <p:cNvSpPr txBox="1"/>
          <p:nvPr/>
        </p:nvSpPr>
        <p:spPr>
          <a:xfrm>
            <a:off x="6963119" y="6414658"/>
            <a:ext cx="6093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200" dirty="0"/>
              <a:t>Source: https://jupytearth.org/jupyter-resources/introduction/ecosystem.html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6776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D1E0-7BD8-8DA8-D56B-46AF0E37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B3FE-D55C-5DB0-1036-DBE91094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scientific “Ecosystem”</a:t>
            </a:r>
            <a:endParaRPr lang="en-CH" dirty="0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4013078F-B9D7-6F53-DFC0-883AFBA77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02" y="1404594"/>
            <a:ext cx="9229448" cy="4685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8E6A46-5C16-6B56-1CE2-38DC25D83330}"/>
              </a:ext>
            </a:extLst>
          </p:cNvPr>
          <p:cNvSpPr txBox="1"/>
          <p:nvPr/>
        </p:nvSpPr>
        <p:spPr>
          <a:xfrm>
            <a:off x="6963119" y="6414658"/>
            <a:ext cx="6093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200" dirty="0"/>
              <a:t>Source: https://jupytearth.org/jupyter-resources/introduction/ecosystem.html</a:t>
            </a:r>
            <a:endParaRPr lang="en-GB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248B9-04E0-7316-5C9C-06C352C5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631" y="504240"/>
            <a:ext cx="3543795" cy="36390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1E2C2C-FCF9-B8F1-6E3A-6D7AFD8E39D7}"/>
              </a:ext>
            </a:extLst>
          </p:cNvPr>
          <p:cNvSpPr/>
          <p:nvPr/>
        </p:nvSpPr>
        <p:spPr>
          <a:xfrm>
            <a:off x="7617350" y="302150"/>
            <a:ext cx="1447137" cy="962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FADBE5-0419-1835-10C6-EA46E916D05B}"/>
              </a:ext>
            </a:extLst>
          </p:cNvPr>
          <p:cNvSpPr/>
          <p:nvPr/>
        </p:nvSpPr>
        <p:spPr>
          <a:xfrm>
            <a:off x="7219495" y="473364"/>
            <a:ext cx="1447137" cy="962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C3744-BA76-F905-AF3A-97C9910079D2}"/>
              </a:ext>
            </a:extLst>
          </p:cNvPr>
          <p:cNvSpPr/>
          <p:nvPr/>
        </p:nvSpPr>
        <p:spPr>
          <a:xfrm>
            <a:off x="6893781" y="599034"/>
            <a:ext cx="1447137" cy="962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0411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621E-8D47-4959-A6B0-3B2960662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Currently one of the most popular languages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88079-F3D8-45AB-889F-C425DBD34841}"/>
              </a:ext>
            </a:extLst>
          </p:cNvPr>
          <p:cNvSpPr txBox="1"/>
          <p:nvPr/>
        </p:nvSpPr>
        <p:spPr>
          <a:xfrm>
            <a:off x="4173953" y="6222155"/>
            <a:ext cx="6093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200" dirty="0"/>
              <a:t>Source: https://insights.stackoverflow.com</a:t>
            </a:r>
            <a:endParaRPr lang="en-GB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3028D-14A1-4071-7178-A132368D3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459" y="1523644"/>
            <a:ext cx="6852640" cy="45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65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20A5-0DF4-83AE-54E1-D808433A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7E79-0AFE-0B79-584F-66AB07A2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Currently one of the most popular languages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D7A17-B628-8033-98DB-AD69220E6213}"/>
              </a:ext>
            </a:extLst>
          </p:cNvPr>
          <p:cNvSpPr txBox="1"/>
          <p:nvPr/>
        </p:nvSpPr>
        <p:spPr>
          <a:xfrm>
            <a:off x="4173953" y="6222155"/>
            <a:ext cx="6093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200" dirty="0"/>
              <a:t>Source: https://insights.stackoverflow.com</a:t>
            </a:r>
            <a:endParaRPr lang="en-GB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6CA35-B636-DF84-0318-8901C0D0A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459" y="1523644"/>
            <a:ext cx="6852640" cy="453260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947FA94-CCC4-EB61-4424-069C27377E02}"/>
              </a:ext>
            </a:extLst>
          </p:cNvPr>
          <p:cNvCxnSpPr>
            <a:cxnSpLocks/>
          </p:cNvCxnSpPr>
          <p:nvPr/>
        </p:nvCxnSpPr>
        <p:spPr>
          <a:xfrm flipH="1" flipV="1">
            <a:off x="7688911" y="1856595"/>
            <a:ext cx="1701579" cy="3498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CC2AA3-7557-F840-73EC-6B139D75AF59}"/>
              </a:ext>
            </a:extLst>
          </p:cNvPr>
          <p:cNvSpPr txBox="1"/>
          <p:nvPr/>
        </p:nvSpPr>
        <p:spPr>
          <a:xfrm>
            <a:off x="9470003" y="1936108"/>
            <a:ext cx="209119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30.11.2022 </a:t>
            </a:r>
          </a:p>
          <a:p>
            <a:r>
              <a:rPr lang="en-US" dirty="0">
                <a:solidFill>
                  <a:srgbClr val="FF0000"/>
                </a:solidFill>
              </a:rPr>
              <a:t>Release of ChatGPT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62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1CBF-329F-8B02-2E5F-D0A2CDEF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AI Tools for Programming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2734-8D4D-B449-3020-16CA397AA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ChatGPT, </a:t>
            </a:r>
            <a:r>
              <a:rPr lang="en-US" dirty="0" err="1"/>
              <a:t>Github</a:t>
            </a:r>
            <a:r>
              <a:rPr lang="en-US" dirty="0"/>
              <a:t> Copilot, </a:t>
            </a:r>
            <a:r>
              <a:rPr lang="en-US" dirty="0" err="1"/>
              <a:t>AlphaCode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Use them, but don’t blindly trust them.</a:t>
            </a:r>
          </a:p>
          <a:p>
            <a:endParaRPr lang="en-US" dirty="0"/>
          </a:p>
          <a:p>
            <a:r>
              <a:rPr lang="en-US" dirty="0"/>
              <a:t>Make sure you understand the code that you copy!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6086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94AF-0129-468A-9AE1-DA2D473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Jupyter</a:t>
            </a:r>
            <a:r>
              <a:rPr lang="de-CH" dirty="0"/>
              <a:t>?	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8806-93D2-4689-9B85-579EAAF5B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Jupyter</a:t>
            </a:r>
            <a:r>
              <a:rPr lang="en-GB" dirty="0"/>
              <a:t>: Open Source Software for </a:t>
            </a:r>
            <a:r>
              <a:rPr lang="en-GB" b="1" dirty="0"/>
              <a:t>Interactive Computing</a:t>
            </a:r>
          </a:p>
          <a:p>
            <a:r>
              <a:rPr lang="en-GB" dirty="0"/>
              <a:t>Available for multiple languages (</a:t>
            </a:r>
            <a:r>
              <a:rPr lang="en-GB" dirty="0" err="1"/>
              <a:t>Jupyter</a:t>
            </a:r>
            <a:r>
              <a:rPr lang="en-GB" dirty="0"/>
              <a:t>: </a:t>
            </a:r>
            <a:r>
              <a:rPr lang="en-GB" b="1" dirty="0"/>
              <a:t>Ju</a:t>
            </a:r>
            <a:r>
              <a:rPr lang="en-GB" dirty="0"/>
              <a:t>lia, </a:t>
            </a:r>
            <a:r>
              <a:rPr lang="en-GB" b="1" dirty="0"/>
              <a:t>Py</a:t>
            </a:r>
            <a:r>
              <a:rPr lang="en-GB" dirty="0"/>
              <a:t>thon, </a:t>
            </a:r>
            <a:r>
              <a:rPr lang="en-GB" b="1" dirty="0"/>
              <a:t>R</a:t>
            </a:r>
            <a:r>
              <a:rPr lang="en-GB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EA407-F15F-440F-B253-60B6BDB7C847}"/>
              </a:ext>
            </a:extLst>
          </p:cNvPr>
          <p:cNvSpPr txBox="1"/>
          <p:nvPr/>
        </p:nvSpPr>
        <p:spPr>
          <a:xfrm>
            <a:off x="1269274" y="3222723"/>
            <a:ext cx="2962003" cy="23083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2BF5E-ECBD-46D6-9BE7-9F12E7D939B2}"/>
              </a:ext>
            </a:extLst>
          </p:cNvPr>
          <p:cNvSpPr txBox="1"/>
          <p:nvPr/>
        </p:nvSpPr>
        <p:spPr>
          <a:xfrm>
            <a:off x="6135732" y="3222723"/>
            <a:ext cx="2962003" cy="120032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05857-824E-4AF0-A94F-C09C76EE4F5D}"/>
              </a:ext>
            </a:extLst>
          </p:cNvPr>
          <p:cNvSpPr txBox="1"/>
          <p:nvPr/>
        </p:nvSpPr>
        <p:spPr>
          <a:xfrm>
            <a:off x="6135732" y="4589693"/>
            <a:ext cx="2962003" cy="9233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77EB3F-79AF-4C6D-82CB-77EEC3DB7FF8}"/>
              </a:ext>
            </a:extLst>
          </p:cNvPr>
          <p:cNvSpPr txBox="1"/>
          <p:nvPr/>
        </p:nvSpPr>
        <p:spPr>
          <a:xfrm>
            <a:off x="1180379" y="5853590"/>
            <a:ext cx="3049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If</a:t>
            </a:r>
            <a:r>
              <a:rPr lang="de-CH" dirty="0"/>
              <a:t> I </a:t>
            </a:r>
            <a:r>
              <a:rPr lang="de-CH" dirty="0" err="1"/>
              <a:t>want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change</a:t>
            </a:r>
            <a:r>
              <a:rPr lang="de-CH" dirty="0"/>
              <a:t> </a:t>
            </a:r>
            <a:r>
              <a:rPr lang="de-CH" b="1" i="1" dirty="0"/>
              <a:t>e </a:t>
            </a:r>
          </a:p>
          <a:p>
            <a:r>
              <a:rPr lang="de-CH" dirty="0" err="1"/>
              <a:t>everything</a:t>
            </a:r>
            <a:r>
              <a:rPr lang="de-CH" dirty="0"/>
              <a:t> will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recalculated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71EB17-3135-4169-9A4A-7C83C0D4AE90}"/>
              </a:ext>
            </a:extLst>
          </p:cNvPr>
          <p:cNvSpPr txBox="1"/>
          <p:nvPr/>
        </p:nvSpPr>
        <p:spPr>
          <a:xfrm>
            <a:off x="6050824" y="5862601"/>
            <a:ext cx="6093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 err="1"/>
              <a:t>If</a:t>
            </a:r>
            <a:r>
              <a:rPr lang="de-CH" dirty="0"/>
              <a:t> I </a:t>
            </a:r>
            <a:r>
              <a:rPr lang="de-CH" dirty="0" err="1"/>
              <a:t>want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change</a:t>
            </a:r>
            <a:r>
              <a:rPr lang="de-CH" dirty="0"/>
              <a:t> </a:t>
            </a:r>
            <a:r>
              <a:rPr lang="de-CH" b="1" i="1" dirty="0"/>
              <a:t>e </a:t>
            </a:r>
          </a:p>
          <a:p>
            <a:r>
              <a:rPr lang="de-CH" dirty="0" err="1"/>
              <a:t>Only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second</a:t>
            </a:r>
            <a:r>
              <a:rPr lang="de-CH" dirty="0"/>
              <a:t> </a:t>
            </a:r>
            <a:r>
              <a:rPr lang="de-CH" dirty="0" err="1"/>
              <a:t>cell</a:t>
            </a:r>
            <a:r>
              <a:rPr lang="de-CH" dirty="0"/>
              <a:t> </a:t>
            </a:r>
            <a:r>
              <a:rPr lang="de-CH" dirty="0" err="1"/>
              <a:t>must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calculated</a:t>
            </a:r>
            <a:endParaRPr lang="de-CH" dirty="0"/>
          </a:p>
          <a:p>
            <a:r>
              <a:rPr lang="de-CH" b="1" i="1" dirty="0"/>
              <a:t>c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stored</a:t>
            </a:r>
            <a:r>
              <a:rPr lang="de-CH" dirty="0"/>
              <a:t> in </a:t>
            </a:r>
            <a:r>
              <a:rPr lang="de-CH" dirty="0" err="1"/>
              <a:t>memory</a:t>
            </a:r>
            <a:endParaRPr lang="en-GB" b="1" i="1" dirty="0"/>
          </a:p>
        </p:txBody>
      </p:sp>
    </p:spTree>
    <p:extLst>
      <p:ext uri="{BB962C8B-B14F-4D97-AF65-F5344CB8AC3E}">
        <p14:creationId xmlns:p14="http://schemas.microsoft.com/office/powerpoint/2010/main" val="151432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3E68-6CBD-6262-A439-99189615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Python on your own Computer	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7B23F-744D-3935-8C49-E5DA725BE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mindful of resource usage! </a:t>
            </a:r>
          </a:p>
          <a:p>
            <a:pPr lvl="1"/>
            <a:r>
              <a:rPr lang="en-US" dirty="0"/>
              <a:t>Your laptop has limited processing power and memory</a:t>
            </a:r>
          </a:p>
          <a:p>
            <a:pPr lvl="2"/>
            <a:r>
              <a:rPr lang="en-US" dirty="0"/>
              <a:t>Windows: Task manager (ctrl + shift + Esc)</a:t>
            </a:r>
          </a:p>
          <a:p>
            <a:pPr lvl="2"/>
            <a:r>
              <a:rPr lang="en-US" dirty="0"/>
              <a:t>Linux: </a:t>
            </a:r>
            <a:r>
              <a:rPr lang="en-US" dirty="0" err="1"/>
              <a:t>htop</a:t>
            </a:r>
            <a:endParaRPr lang="en-US" dirty="0"/>
          </a:p>
          <a:p>
            <a:pPr lvl="2"/>
            <a:r>
              <a:rPr lang="en-US" dirty="0"/>
              <a:t>Mac: Activity Monitor</a:t>
            </a:r>
          </a:p>
          <a:p>
            <a:pPr lvl="1"/>
            <a:endParaRPr lang="en-US" dirty="0"/>
          </a:p>
          <a:p>
            <a:r>
              <a:rPr lang="en-US" dirty="0"/>
              <a:t> Back up your code! We can not help you restore the lost code…</a:t>
            </a:r>
          </a:p>
          <a:p>
            <a:pPr lvl="1"/>
            <a:r>
              <a:rPr lang="en-US" dirty="0"/>
              <a:t>Simple approach: Copy your work onto an external drive or a cloud</a:t>
            </a:r>
          </a:p>
          <a:p>
            <a:pPr lvl="1"/>
            <a:r>
              <a:rPr lang="en-US" dirty="0"/>
              <a:t>Advanced: use git for version control (recommended)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82728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7718-F91F-C4E8-E1D1-FB6B9157B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an IDE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E3E8-6AD4-9C5D-98EB-C50AA792D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IDE (Integrated development environment) is a comprehensive text editor to write, test, debug and run your code in an easier way. Popular Python IDEs are:</a:t>
            </a:r>
          </a:p>
          <a:p>
            <a:endParaRPr lang="en-US" dirty="0"/>
          </a:p>
          <a:p>
            <a:r>
              <a:rPr lang="en-US" dirty="0" err="1"/>
              <a:t>Vscode</a:t>
            </a:r>
            <a:r>
              <a:rPr lang="en-US" dirty="0"/>
              <a:t> (used by many of us, resource intensive)</a:t>
            </a:r>
          </a:p>
          <a:p>
            <a:r>
              <a:rPr lang="en-US" dirty="0" err="1"/>
              <a:t>Jupyter</a:t>
            </a:r>
            <a:r>
              <a:rPr lang="en-US" dirty="0"/>
              <a:t> notebooks (</a:t>
            </a:r>
            <a:r>
              <a:rPr lang="en-US" dirty="0" err="1"/>
              <a:t>Jupyter</a:t>
            </a:r>
            <a:r>
              <a:rPr lang="en-US" dirty="0"/>
              <a:t> Lab) (simplest way to get started)</a:t>
            </a:r>
          </a:p>
          <a:p>
            <a:r>
              <a:rPr lang="en-US" dirty="0" err="1"/>
              <a:t>Pycharm</a:t>
            </a:r>
            <a:endParaRPr lang="en-US" dirty="0"/>
          </a:p>
          <a:p>
            <a:r>
              <a:rPr lang="en-US" dirty="0"/>
              <a:t>Spyder</a:t>
            </a:r>
          </a:p>
          <a:p>
            <a:r>
              <a:rPr lang="en-US" dirty="0"/>
              <a:t>…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9776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443</Words>
  <Application>Microsoft Macintosh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Introduction  Python &amp; Jupyter</vt:lpstr>
      <vt:lpstr>Program</vt:lpstr>
      <vt:lpstr>What is Python &amp; Why do we use it?</vt:lpstr>
      <vt:lpstr>The scientific “Ecosystem”</vt:lpstr>
      <vt:lpstr>The scientific “Ecosystem”</vt:lpstr>
      <vt:lpstr>Currently one of the most popular languages</vt:lpstr>
      <vt:lpstr>Currently one of the most popular languages</vt:lpstr>
      <vt:lpstr>Use of AI Tools for Programming</vt:lpstr>
      <vt:lpstr>What is Jupyter? </vt:lpstr>
      <vt:lpstr>Using Python on your own Computer </vt:lpstr>
      <vt:lpstr>Use an 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Introduction &amp; The Computerlab</dc:title>
  <dc:creator>Aregger, Martin Pius (GIUB)</dc:creator>
  <cp:lastModifiedBy>Banderier, Hugo (GIUB)</cp:lastModifiedBy>
  <cp:revision>16</cp:revision>
  <dcterms:created xsi:type="dcterms:W3CDTF">2022-03-07T08:29:26Z</dcterms:created>
  <dcterms:modified xsi:type="dcterms:W3CDTF">2026-02-12T09:31:53Z</dcterms:modified>
</cp:coreProperties>
</file>